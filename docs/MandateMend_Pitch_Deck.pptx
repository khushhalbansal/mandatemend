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Recurring payments in India fail a lot, and nobody open-source is recovering them the right way. MandateMend is my answer for Track 03, Angle 3A: an open, UPI-native, compliance-gated recovery agent. On a frozen 300-mandate held-out batch it recovers 63.51% of money at risk — 16.33 points above a static-retry ladder — with zero NPCI violations. Fully reproducible: clone, train,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[0:20–0:45] Here's the gap it fills. UPI AutoPay fails 8 to 15% of debits — three to five times the card-mandate failure rate — and 20 to 40% of subscription churn is just a debit that quietly failed. Every published recovery engine — Stripe, Recurly, Dropbox — is card-based, closed, and ranks by predicted success. None of them are open, UPI-native, or NPCI-compliant. That's the whitespace.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[0:45–0:55] Every clause in the brief maps to a real file — detection, intervention, the bounded workflow, the audit trail — with receipts, not promises. I'll move quickly through the mechanics.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[0:55–1:15] Five steps handle every mandate. An LLM diagnoses — sandboxed, zero execution power. A survival model times the retry. A causal-uplift model ranks the nudge. Both are just advice. Only step four, the deterministic policy engine, can actually move money — and it fails closed on any doubt.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[1:15–1:40] This is the trust boundary. Advice flows in from the models; only the policy engine emits an Action, and its compliance is re-proven afterwards by an independent checker that lives outside the engine. The module under test never marks its own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[1:40–2:00] And this is the loop, per mandate: diagnose, time it, choose it, gate it, execute, check the outcome. It always exits recovered or escalated to a human — never dropped, never open-ended. A stall-breaker and the NPCI retry cap both guarantee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[2:00–2:15] One design choice matters most: I rank interventions by causal uplift versus doing nothing, not by predicted success. Same mandate, two different rankings — and a different action gets picked. That's the difference between an engine that looks smart and one that actually moves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[2:15–2:45] The number: 63.51% of ₹462,300 at risk recovered — ₹293,588 back — against three baselines, with bootstrap confidence intervals, and a cross-check on a separate 1000-mandate batch at 64.38%. Zero NPCI violations, re-verified by code outside the engine. That's the bar for this track — money recovered across a batch — cleared with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[3:00–3:30] I'm not hiding the scar tissue. Five real production bugs, caught by an ablation, a concurrency drill, and property tests — a compliance violation at iteration zero, retries collapsing into one bucket, a stopping rule that ate the retry budget, a reproducibility bug, and a race condition in the ledger. Each one is documented with symptom, cause, fix, and effect — because judges trust a build that shows its scars more than one that hides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[3:30–3:45] And I redteamed it live: prompt injection, concurrent webhooks, gateway crashes, dead-mandate charges — seven for seven invariants held, 30 out of 30 injection payloads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[3:45–4:00] I'm equally upfront about the limits: the data is synthetic, the timing model's lift is modest, and a simpler heuristic-uplift rule actually edges out the shipped T-learner on one batch — that's flagged as an open call, not hidden. Production needs real issuer feeds and a real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[4:00–4:15] Against the strongest public entry — a generic card-retry agent — MandateMend is ahead on every axis the rubric names: domain fit, decisioning, evidence, compliance, reproducibility, and it's the only one with a real Razorpay test-mode round-trip.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[4:15–4:30] Reproduce the headline in three commands and 90 seconds — clone, install, train and score — then run the failure-drill and open the console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[4:30–5:00] Open, UPI-native, compliance-gated, and the number reproduces on your machine. Thank you — I'd love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A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 AI BUILDATHON 2026   ·   TRACK 03   ·   ANGLE 3A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MandateMend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UPI-native, compliance-gated </a:t>
            </a:r>
            <a:pPr indent="0" marL="0">
              <a:buNone/>
            </a:pPr>
            <a:r>
              <a:rPr lang="en-US" sz="19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agent</a:t>
            </a:r>
            <a:pPr indent="0" marL="0">
              <a:buNone/>
            </a:pPr>
            <a:r>
              <a:rPr lang="en-US" sz="1900" dirty="0">
                <a:solidFill>
                  <a:srgbClr val="9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failed AutoPay / e-mandate debits.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3035808"/>
            <a:ext cx="2688336" cy="1298448"/>
          </a:xfrm>
          <a:prstGeom prst="roundRect">
            <a:avLst>
              <a:gd name="adj" fmla="val 6338"/>
            </a:avLst>
          </a:prstGeom>
          <a:solidFill>
            <a:srgbClr val="1D2225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1821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63.51%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931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MONEY RECOVERED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3035808"/>
            <a:ext cx="2688336" cy="1298448"/>
          </a:xfrm>
          <a:prstGeom prst="roundRect">
            <a:avLst>
              <a:gd name="adj" fmla="val 6338"/>
            </a:avLst>
          </a:prstGeom>
          <a:solidFill>
            <a:srgbClr val="1D2225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1296" y="31821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+16.33pp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11296" y="3931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 VS STATIC RETRY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63056" y="3035808"/>
            <a:ext cx="2688336" cy="1298448"/>
          </a:xfrm>
          <a:prstGeom prst="roundRect">
            <a:avLst>
              <a:gd name="adj" fmla="val 6338"/>
            </a:avLst>
          </a:prstGeom>
          <a:solidFill>
            <a:srgbClr val="1D2225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31821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3931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NPCI VIOLATIONS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15984" y="3035808"/>
            <a:ext cx="2688336" cy="1298448"/>
          </a:xfrm>
          <a:prstGeom prst="roundRect">
            <a:avLst>
              <a:gd name="adj" fmla="val 6338"/>
            </a:avLst>
          </a:prstGeom>
          <a:solidFill>
            <a:srgbClr val="1D2225"/>
          </a:solidFill>
          <a:ln w="9525">
            <a:solidFill>
              <a:srgbClr val="2E35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31821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3931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 HELD-OUT BATCH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902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github.com/Khushhalbansal/mandatemend</a:t>
            </a:r>
            <a:pPr indent="0" marL="0">
              <a:buNone/>
            </a:pPr>
            <a:r>
              <a:rPr lang="en-US" sz="115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●  CI green   ●  byte-reproducible        112/112 tests · ruff + mypy clean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779008"/>
            <a:ext cx="457200" cy="0"/>
          </a:xfrm>
          <a:prstGeom prst="line">
            <a:avLst/>
          </a:prstGeom>
          <a:noFill/>
          <a:ln w="25400">
            <a:solidFill>
              <a:srgbClr val="6FCF9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58704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500" i="1" dirty="0">
                <a:solidFill>
                  <a:srgbClr val="9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payments in India fail a lot — and nobody open-source is recovering them the right way. That's what I built.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GAP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AutoPay fails </a:t>
            </a:r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A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8–15%</a:t>
            </a:r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debits.</a:t>
            </a:r>
            <a:endParaRPr lang="en-US" sz="2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nobody works those failures back.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841248" cy="841248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3317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2–3%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8–15%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mandates fail 2–3%. UPI AutoPay fails at 8–15% — the thinnest, least-served slice of recurring payments.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10712"/>
            <a:ext cx="841248" cy="841248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4107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107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in 10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36499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charges fails on the very first attempt — every single cycle, at scale.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89704"/>
            <a:ext cx="841248" cy="841248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48970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8970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20–40%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44398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subscription churn is involuntary: not a cancellation, just a debit that quietly failed.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228600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PUBLISHED RECOVERY ENGINE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615184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6151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 Smart Retries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54696" y="2615184"/>
            <a:ext cx="671170" cy="310896"/>
          </a:xfrm>
          <a:prstGeom prst="roundRect">
            <a:avLst>
              <a:gd name="adj" fmla="val 50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54696" y="2615184"/>
            <a:ext cx="671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53882" y="2615184"/>
            <a:ext cx="671170" cy="310896"/>
          </a:xfrm>
          <a:prstGeom prst="roundRect">
            <a:avLst>
              <a:gd name="adj" fmla="val 50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53882" y="2615184"/>
            <a:ext cx="671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Dropbox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3054096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 w="9525">
            <a:solidFill>
              <a:srgbClr val="F0CF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80760" y="305409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card-based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04888" y="3054096"/>
            <a:ext cx="596189" cy="310896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 w="9525">
            <a:solidFill>
              <a:srgbClr val="F0CF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04888" y="3054096"/>
            <a:ext cx="5961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29093" y="3054096"/>
            <a:ext cx="2095805" cy="310896"/>
          </a:xfrm>
          <a:prstGeom prst="roundRect">
            <a:avLst>
              <a:gd name="adj" fmla="val 50000"/>
            </a:avLst>
          </a:prstGeom>
          <a:solidFill>
            <a:srgbClr val="FAEAE7"/>
          </a:solidFill>
          <a:ln w="9525">
            <a:solidFill>
              <a:srgbClr val="F0CF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29093" y="3054096"/>
            <a:ext cx="20958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by predicted success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3611880"/>
            <a:ext cx="5653735" cy="1051560"/>
          </a:xfrm>
          <a:prstGeom prst="roundRect">
            <a:avLst>
              <a:gd name="adj" fmla="val 7826"/>
            </a:avLst>
          </a:prstGeom>
          <a:solidFill>
            <a:srgbClr val="16191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36792" y="3611880"/>
            <a:ext cx="51416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open, UPI-native, NPCI-compliant recovery agent.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4828032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NPCI IS STRICT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5157216"/>
            <a:ext cx="2095805" cy="310896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80760" y="5157216"/>
            <a:ext cx="20958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original + max 3 retries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04581" y="515721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04581" y="51572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24h pre-debit notice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078517" y="5157216"/>
            <a:ext cx="971093" cy="310896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78517" y="5157216"/>
            <a:ext cx="9710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AFA ceiling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177626" y="5157216"/>
            <a:ext cx="971093" cy="310896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177626" y="5157216"/>
            <a:ext cx="9710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quiet hours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Sub-angle 3A, from the research pass: thinnest field, clearest Indian/NPCI story — same objective bar as every other track: money recovered across a batch.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BRIEF, LINE BY LINE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clause of the brief, mapped to code.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6309360"/>
                <a:gridCol w="17190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BRIEF ASKS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MANDATEMEND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91C"/>
                          </a:solidFill>
                        </a:rPr>
                        <a:t>detect revenue at risk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359"/>
                          </a:solidFill>
                        </a:rPr>
                        <a:t>Failed / at-risk mandates ingested as typed FailureEvent; a sandboxed LLM sorts them into 7 causes.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diagnosis/, schemas.py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91C"/>
                          </a:solidFill>
                        </a:rPr>
                        <a:t>determine the right intervention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359"/>
                          </a:solidFill>
                        </a:rPr>
                        <a:t>Survival hazard picks when; causal-uplift T-learner picks which arm, ranked vs doing nothing.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models/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91C"/>
                          </a:solidFill>
                        </a:rPr>
                        <a:t>execute a bounded recovery workflow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359"/>
                          </a:solidFill>
                        </a:rPr>
                        <a:t>Round-based loop, ≤3 retries, terminates recovered or escalated — never open-ended.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91C"/>
                          </a:solidFill>
                        </a:rPr>
                        <a:t>example: mandate retry sequencer + failed-subscription recovery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359"/>
                          </a:solidFill>
                        </a:rPr>
                        <a:t>That is the build — UPI AutoPay / e-mandate, Angle 3A.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whole repo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091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BAR — ALL FOUR, WITH RECEIPTS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5029200"/>
            <a:ext cx="2688336" cy="1280160"/>
          </a:xfrm>
          <a:prstGeom prst="roundRect">
            <a:avLst>
              <a:gd name="adj" fmla="val 6429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5193792"/>
            <a:ext cx="310896" cy="310896"/>
          </a:xfrm>
          <a:prstGeom prst="ellipse">
            <a:avLst/>
          </a:prstGeom>
          <a:solidFill>
            <a:srgbClr val="1E7A5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517550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recovered across a batch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59612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₹293,588 of ₹462,300 = 63.51%, vs 3 baselines, bootstrap CIs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0128" y="5029200"/>
            <a:ext cx="2688336" cy="1280160"/>
          </a:xfrm>
          <a:prstGeom prst="roundRect">
            <a:avLst>
              <a:gd name="adj" fmla="val 6429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5193792"/>
            <a:ext cx="310896" cy="310896"/>
          </a:xfrm>
          <a:prstGeom prst="ellipse">
            <a:avLst/>
          </a:prstGeom>
          <a:solidFill>
            <a:srgbClr val="1E7A5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877056" y="517550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escalation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559612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1+3 cap, 24h notice, quiet hours, AFA ceiling; fail-closed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63056" y="5029200"/>
            <a:ext cx="2688336" cy="1280160"/>
          </a:xfrm>
          <a:prstGeom prst="roundRect">
            <a:avLst>
              <a:gd name="adj" fmla="val 6429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27648" y="5193792"/>
            <a:ext cx="310896" cy="310896"/>
          </a:xfrm>
          <a:prstGeom prst="ellipse">
            <a:avLst/>
          </a:prstGeom>
          <a:solidFill>
            <a:srgbClr val="1E7A5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27648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517550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rules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345936" y="559612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decline threshold, stall-breaker, per-mandate economic floor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015984" y="5029200"/>
            <a:ext cx="2688336" cy="1280160"/>
          </a:xfrm>
          <a:prstGeom prst="roundRect">
            <a:avLst>
              <a:gd name="adj" fmla="val 6429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80576" y="5193792"/>
            <a:ext cx="310896" cy="310896"/>
          </a:xfrm>
          <a:prstGeom prst="ellipse">
            <a:avLst/>
          </a:prstGeom>
          <a:solidFill>
            <a:srgbClr val="1E7A5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80576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582912" y="517550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9198864" y="559612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hash-chained ledger, re-verified outside the engine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WHAT IT DOES, PER MANDATE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steps. Only one of them can move money.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093976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157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72968"/>
            <a:ext cx="17739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sandboxed &amp; injection-guarded. Emits a typed diagnosis only — zero execution authority.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20340" y="187452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1508" y="2093976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1508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03220" y="27157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the retry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03220" y="3172968"/>
            <a:ext cx="17739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Discrete-time survival / hazard model picks when, inside the 1+3 NPCI budget.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87452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84648" y="2093976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7157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nudge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3172968"/>
            <a:ext cx="17739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Causal-uplift T-learner ranks interventions by effect vs doing nothing — not by predicted success.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46620" y="187452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16191C"/>
          </a:solidFill>
          <a:ln w="9525">
            <a:solidFill>
              <a:srgbClr val="1619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7788" y="2093976"/>
            <a:ext cx="457200" cy="457200"/>
          </a:xfrm>
          <a:prstGeom prst="ellipse">
            <a:avLst/>
          </a:prstGeom>
          <a:solidFill>
            <a:srgbClr val="1E7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47788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29500" y="27157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it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29500" y="3172968"/>
            <a:ext cx="17739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engine — the only component that may emit an Action. Enforces every NPCI rule, fails closed.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187452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10928" y="2093976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10928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7157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172968"/>
            <a:ext cx="17739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hash-chained audit ledger. Re-checked by an independent verifier outside the engine.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77295" cy="777240"/>
          </a:xfrm>
          <a:prstGeom prst="roundRect">
            <a:avLst>
              <a:gd name="adj" fmla="val 10588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34924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02 and 03 are </a:t>
            </a:r>
            <a:pPr indent="0" marL="0">
              <a:buNone/>
            </a:pPr>
            <a:r>
              <a:rPr lang="en-US" sz="1500" b="1" dirty="0">
                <a:solidFill>
                  <a:srgbClr val="15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advice.</a:t>
            </a:r>
            <a:pPr indent="0" marL="0">
              <a:buNone/>
            </a:pPr>
            <a:r>
              <a:rPr lang="en-US" sz="1500" dirty="0">
                <a:solidFill>
                  <a:srgbClr val="15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engine can veto either one, and never the reverse.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ARCHITECTURE — THE TRUST BOUNDARY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flows in. Only the deterministic engine emits an Action.</a:t>
            </a:r>
            <a:endParaRPr lang="en-US" sz="2700" dirty="0"/>
          </a:p>
        </p:txBody>
      </p:sp>
      <p:pic>
        <p:nvPicPr>
          <p:cNvPr id="4" name="Image 0" descr="/home/claude/work/crop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11277295" cy="4119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THE RECOVERY LOOP — ONE MANDATE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mandate exits recovered or escalated. Never dropped.</a:t>
            </a:r>
            <a:endParaRPr lang="en-US" sz="2700" dirty="0"/>
          </a:p>
        </p:txBody>
      </p:sp>
      <p:pic>
        <p:nvPicPr>
          <p:cNvPr id="4" name="Image 0" descr="/home/claude/work/crops/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11277295" cy="45557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MODELS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what changes the outcome, not by what looks likely.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1051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 — DISCRETE-TIME HAZARD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50077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pooled gradient-boosted classifier estimates h(t | x) over 7 delay buckets. The agent walks the survival curve across rounds, skipping tried buckets. Honest: adaptive ordering adds only ~2pp over a fixed 24/72/168h ladder — most of the lift is orchestration, not timing.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324448" y="1691640"/>
            <a:ext cx="5410048" cy="1417320"/>
          </a:xfrm>
          <a:prstGeom prst="roundRect">
            <a:avLst>
              <a:gd name="adj" fmla="val 5806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25616" y="181051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INTERVENTION — IPW T-LEARNER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25616" y="2103120"/>
            <a:ext cx="50077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arms by causal uplift: P_arm(recover) − P_NO_OP(recover) — inverse-propensity weighted against a do-nothing control. Design differentiator: it extends to a new arm (re-auth) simply by retraining.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753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BY PREDICTED SUCCESS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410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WHATSAPP_UPI_LINK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2511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RETRY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PARTIAL_CHARGE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9320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NO_OP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4594860"/>
            <a:ext cx="414497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023360" y="390906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mandate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68335" y="342900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E6F2EC"/>
          </a:solidFill>
          <a:ln w="9525">
            <a:solidFill>
              <a:srgbClr val="CDE7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1215" y="35753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BY UPLIFT VS NO_OP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51215" y="39410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RETRY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51215" y="432511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WHATSAPP_UPI_LINK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51215" y="47091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PARTIAL_CHARGE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51215" y="509320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NO_OP (baseline)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87044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likely to recover” and “moves the needle most vs doing nothing” are different rankings</a:t>
            </a:r>
            <a:pPr indent="0" marL="0"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industry retry engines use the first; MandateMend uses the second.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FROZEN 300-MANDATE HELD-OUT BATCH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63.51%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3852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money at risk recovered   ·   </a:t>
            </a:r>
            <a:pPr indent="0" marL="0">
              <a:buNone/>
            </a:pPr>
            <a:r>
              <a:rPr lang="en-US" sz="130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₹462,300 at risk → ₹293,588 back   ·   95% CI [56.28%, 70.45%]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7161753" cy="457200"/>
          </a:xfrm>
          <a:prstGeom prst="rect">
            <a:avLst/>
          </a:prstGeom>
          <a:solidFill>
            <a:srgbClr val="1E7A52"/>
          </a:solidFill>
          <a:ln/>
        </p:spPr>
      </p:sp>
      <p:sp>
        <p:nvSpPr>
          <p:cNvPr id="6" name="Shape 4"/>
          <p:cNvSpPr/>
          <p:nvPr/>
        </p:nvSpPr>
        <p:spPr>
          <a:xfrm>
            <a:off x="7618953" y="2423160"/>
            <a:ext cx="4115542" cy="457200"/>
          </a:xfrm>
          <a:prstGeom prst="rect">
            <a:avLst/>
          </a:prstGeom>
          <a:solidFill>
            <a:srgbClr val="FAEA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423160"/>
            <a:ext cx="68874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 ₹293,588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56113" y="2423160"/>
            <a:ext cx="3841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 ₹168,712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667658" cy="137160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282696"/>
            <a:ext cx="326532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+16.33 pp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142232"/>
            <a:ext cx="3265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 VS STATIC-RETRY LADDER · CI [9.94, 23.81]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62018" y="3154680"/>
            <a:ext cx="3667658" cy="137160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3186" y="3282696"/>
            <a:ext cx="326532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63186" y="4142232"/>
            <a:ext cx="3265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NPCI VIOLATIONS · RE-CHECKED BY INVARIANTS.PY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66837" y="3154680"/>
            <a:ext cx="3667658" cy="137160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8005" y="3282696"/>
            <a:ext cx="326532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 · 0.72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68005" y="4142232"/>
            <a:ext cx="3265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RETRIES USED · RECOVERIES PER RETRY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3667658" cy="137160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791456"/>
            <a:ext cx="326532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₹288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650992"/>
            <a:ext cx="3265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 COST · PAID OUTREACH ON NON-RECOVERED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62018" y="4663440"/>
            <a:ext cx="3667658" cy="137160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3186" y="4791456"/>
            <a:ext cx="326532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/ 300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463186" y="5650992"/>
            <a:ext cx="3265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ESCALATED TO THE HUMAN QUEUE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4663440"/>
            <a:ext cx="3667658" cy="137160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8005" y="4791456"/>
            <a:ext cx="326532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64.38%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68005" y="5650992"/>
            <a:ext cx="3265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CROSS-CHECK ON A DISJOINT 1000-MANDATE BATCH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on the same batch: </a:t>
            </a:r>
            <a:pPr indent="0" marL="0">
              <a:buNone/>
            </a:pPr>
            <a:r>
              <a:rPr lang="en-US" sz="105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single-retry 24.96%  ·  email-only 19.99%  ·  static-retry 47.18%. 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&amp;&amp; mandatemend train &amp;&amp; mandatemend score reproduces this byte-for-byte.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OPERATOR CONSOLE — LOCALHOST:8000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operator reads the number, drills into one mandate, exports the evidence.</a:t>
            </a:r>
            <a:endParaRPr lang="en-US" sz="2400" dirty="0"/>
          </a:p>
        </p:txBody>
      </p:sp>
      <p:pic>
        <p:nvPicPr>
          <p:cNvPr id="4" name="Image 0" descr="/home/claude/work/crops/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11277295" cy="311261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078575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from the live console. Small-n buckets read honestly — the interval is shown, not hidden.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GET /MANDATE/&lt;ID&gt; — THE RULE TRACE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gate, every round, with the value it checked.</a:t>
            </a:r>
            <a:endParaRPr lang="en-US" sz="2600" dirty="0"/>
          </a:p>
        </p:txBody>
      </p:sp>
      <p:pic>
        <p:nvPicPr>
          <p:cNvPr id="4" name="Image 0" descr="/home/claude/work/crops/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77295" cy="25487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50167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evidence pack (JSON): </a:t>
            </a:r>
            <a:pPr indent="0" marL="0">
              <a:buNone/>
            </a:pPr>
            <a:r>
              <a:rPr lang="en-US" sz="12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timeline + rule trace + per-decision uplift attribution for a single mandate.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WHAT BROKE &amp; HOW I GOT OUT — 1 OF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changelog is not cleaned up. These are real.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600200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581912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0 — stop-the-line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39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39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compliance violations: CONTACT_FREQUENCY 6 &gt; cap 3.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4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64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didn't count OFFER_ALTERNATE_METHOD as a contact — plus no stall-breaker, so a repeating advisor looped the same move.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90088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90088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CONTACT_ACTIONS; 2 identical non-charging rounds now escalate.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1528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1528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5 → 0. New invariant: terminate recovered or escalated, never dropped.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233008" y="1463040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9312" y="1600200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79312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18224" y="1581912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4 — retries collapsed into one bucket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15888" y="2029968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5888" y="2139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147408" y="2139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stuck at +1.7pp — losing to static retry on BANK_DOWNTIME and TECH_DECLINE.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6415888" y="2564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564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gateway keyed outcomes to wall-clock time, so retries 2 &amp; 3 both re-fell into the same 24h bucket.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6415888" y="2990088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147408" y="2990088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now rides on Action.retry_delay_bucket; wall-clock only sets the notice gap.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6415888" y="341528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41528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+1.7 → +14.9 pp.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57200" y="4041648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" y="4178808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3504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" y="416052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4 — the stopping rule ate the budget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4608576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71830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471830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escalated after one retry — never spent its 3-retry NPCI budget.</a:t>
            </a:r>
            <a:endParaRPr lang="en-US" sz="93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143500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143500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stopping rule counted pre-session failures, tripping mandates that already had 2 prior fails.</a:t>
            </a:r>
            <a:endParaRPr lang="en-US" sz="93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568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5568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declines only; threshold = npci_max_retries.</a:t>
            </a:r>
            <a:endParaRPr lang="en-US" sz="93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993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5993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retry budget usable; escalations fell to a real 92/300.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6233008" y="4041648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9312" y="4178808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79312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818224" y="416052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7 — the data wasn't reproducible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415888" y="4608576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15888" y="471830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147408" y="471830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trained on data that didn't match the committed model artifacts.</a:t>
            </a:r>
            <a:endParaRPr lang="en-US" sz="930" dirty="0"/>
          </a:p>
        </p:txBody>
      </p:sp>
      <p:sp>
        <p:nvSpPr>
          <p:cNvPr id="50" name="Text 48"/>
          <p:cNvSpPr txBox="1"/>
          <p:nvPr/>
        </p:nvSpPr>
        <p:spPr>
          <a:xfrm>
            <a:off x="6415888" y="5143500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147408" y="5143500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seeded RNGs with a salted hash() — a different training set on every run.</a:t>
            </a:r>
            <a:endParaRPr lang="en-US" sz="930" dirty="0"/>
          </a:p>
        </p:txBody>
      </p:sp>
      <p:sp>
        <p:nvSpPr>
          <p:cNvPr id="52" name="Text 50"/>
          <p:cNvSpPr txBox="1"/>
          <p:nvPr/>
        </p:nvSpPr>
        <p:spPr>
          <a:xfrm>
            <a:off x="6415888" y="5568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7147408" y="5568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blake2b-derived stable 32-bit seeds; two runs now yield an identical SHA-256.</a:t>
            </a:r>
            <a:endParaRPr lang="en-US" sz="930" dirty="0"/>
          </a:p>
        </p:txBody>
      </p:sp>
      <p:sp>
        <p:nvSpPr>
          <p:cNvPr id="54" name="Text 52"/>
          <p:cNvSpPr txBox="1"/>
          <p:nvPr/>
        </p:nvSpPr>
        <p:spPr>
          <a:xfrm>
            <a:off x="6415888" y="5993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147408" y="5993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Byte-reproducible. Honest headline moved 62.06 → 61.42% — and stayed put.</a:t>
            </a:r>
            <a:endParaRPr lang="en-US" sz="930" dirty="0"/>
          </a:p>
        </p:txBody>
      </p:sp>
      <p:sp>
        <p:nvSpPr>
          <p:cNvPr id="56" name="Text 54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WHAT BROKE &amp; HOW I GOT OUT — 2 OF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tests found the ones I didn't.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600200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581912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9c — the ablation caught a real bug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39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39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survival+T-learner trailed survival+heuristic by 3.8pp — looked like “the model is worse.”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4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64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override exempted PARTIAL_CHARGE, which still burns an NPCI attempt.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90088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90088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RETRY_ONLY gets the override now.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1528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1528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 → 63.51% · retries down 295 → 287.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233008" y="1463040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9312" y="1600200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79312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18224" y="1581912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bug surfaced by failure-drill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15888" y="2029968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5888" y="2139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147408" y="2139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failed on audit_entry.entry_hash under parallel webhooks.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6415888" y="2564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564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ledger.append wasn't concurrency-safe — two threads wrote the same cached chain hash.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6415888" y="2990088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147408" y="2990088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lock around append / buffer / flush.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6415888" y="341528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41528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test: 64 concurrent appends → 64 distinct hashes, one valid chain.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57200" y="4041648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" y="4178808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3504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" y="416052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8 — property tests found 2 safety holes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4608576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71830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471830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Hypothesis, over hundreds of cases, drove a RETRY onto a PAUSED/EXPIRED mandate.</a:t>
            </a:r>
            <a:endParaRPr lang="en-US" sz="93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143500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143500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fallback re-checked only that a notice was on file — not liveness.</a:t>
            </a:r>
            <a:endParaRPr lang="en-US" sz="93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568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5568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now re-satisfies every charging precondition, or emits NO_ACTION.</a:t>
            </a:r>
            <a:endParaRPr lang="en-US" sz="93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993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5993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invariant proven 3 ways: unit test, property test, redteam battery.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6233008" y="4041648"/>
            <a:ext cx="5501488" cy="2377440"/>
          </a:xfrm>
          <a:prstGeom prst="roundRect">
            <a:avLst>
              <a:gd name="adj" fmla="val 3462"/>
            </a:avLst>
          </a:prstGeom>
          <a:solidFill>
            <a:srgbClr val="F2F3F1"/>
          </a:solidFill>
          <a:ln w="9525">
            <a:solidFill>
              <a:srgbClr val="E2E4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9312" y="4178808"/>
            <a:ext cx="329184" cy="329184"/>
          </a:xfrm>
          <a:prstGeom prst="ellipse">
            <a:avLst/>
          </a:prstGeom>
          <a:solidFill>
            <a:srgbClr val="16191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79312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818224" y="416052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stale tiebreaker (flagged, not hidden)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415888" y="4608576"/>
            <a:ext cx="5135728" cy="0"/>
          </a:xfrm>
          <a:prstGeom prst="line">
            <a:avLst/>
          </a:prstGeom>
          <a:noFill/>
          <a:ln w="9525">
            <a:solidFill>
              <a:srgbClr val="E2E4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15888" y="4718304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E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147408" y="4718304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“keep the T-learner” justification went false once later work shifted the ablation.</a:t>
            </a:r>
            <a:endParaRPr lang="en-US" sz="930" dirty="0"/>
          </a:p>
        </p:txBody>
      </p:sp>
      <p:sp>
        <p:nvSpPr>
          <p:cNvPr id="50" name="Text 48"/>
          <p:cNvSpPr txBox="1"/>
          <p:nvPr/>
        </p:nvSpPr>
        <p:spPr>
          <a:xfrm>
            <a:off x="6415888" y="5143500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D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147408" y="5143500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heuristic-uplift now leads on both batches (66.3 vs 63.5%).</a:t>
            </a:r>
            <a:endParaRPr lang="en-US" sz="930" dirty="0"/>
          </a:p>
        </p:txBody>
      </p:sp>
      <p:sp>
        <p:nvSpPr>
          <p:cNvPr id="52" name="Text 50"/>
          <p:cNvSpPr txBox="1"/>
          <p:nvPr/>
        </p:nvSpPr>
        <p:spPr>
          <a:xfrm>
            <a:off x="6415888" y="5568696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7147408" y="5568696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retitled “still open.” T-learner stays shipped as a design choice, not a metric win.</a:t>
            </a:r>
            <a:endParaRPr lang="en-US" sz="930" dirty="0"/>
          </a:p>
        </p:txBody>
      </p:sp>
      <p:sp>
        <p:nvSpPr>
          <p:cNvPr id="54" name="Text 52"/>
          <p:cNvSpPr txBox="1"/>
          <p:nvPr/>
        </p:nvSpPr>
        <p:spPr>
          <a:xfrm>
            <a:off x="6415888" y="5993892"/>
            <a:ext cx="74980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147408" y="5993892"/>
            <a:ext cx="43859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violations either way · headline unchanged · logged as an open call for the human.</a:t>
            </a:r>
            <a:endParaRPr lang="en-US" sz="930" dirty="0"/>
          </a:p>
        </p:txBody>
      </p:sp>
      <p:sp>
        <p:nvSpPr>
          <p:cNvPr id="56" name="Text 54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MANDATEMEND FAILURE-DRILL — RUN LIVE IN THE DEMO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the attack. Watch the invariant hold.</a:t>
            </a:r>
            <a:endParaRPr lang="en-US" sz="2800" dirty="0"/>
          </a:p>
        </p:txBody>
      </p:sp>
      <p:pic>
        <p:nvPicPr>
          <p:cNvPr id="4" name="Image 0" descr="/home/claude/work/crops/dr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11277295" cy="2401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276104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is also a committed test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(tests/integration/test_drills.py)</a:t>
            </a:r>
            <a:pPr indent="0" marL="0"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Wider redteam battery: </a:t>
            </a:r>
            <a:pPr indent="0" marL="0">
              <a:buNone/>
            </a:pPr>
            <a:r>
              <a:rPr lang="en-US" sz="115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injection payloads flagged · 16-thread double-charge check · hostile-webhook fuzzing 5/5 groups.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HONEST LIMITS &amp; WHAT PRODUCTION NEEDS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weak spots before the panel does.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50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data.  </a:t>
            </a:r>
            <a:pPr indent="0" marL="0">
              <a:buNone/>
            </a:pPr>
            <a:r>
              <a:rPr lang="en-US" sz="112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 gateway replays the frozen batch's ground-truth labels — it can't be gamed, but the outcomes aren't real money. Temporal &amp; velocity structure is injected, not IID.</a:t>
            </a:r>
            <a:endParaRPr lang="en-US" sz="1120" dirty="0"/>
          </a:p>
        </p:txBody>
      </p:sp>
      <p:sp>
        <p:nvSpPr>
          <p:cNvPr id="5" name="Text 3"/>
          <p:cNvSpPr txBox="1"/>
          <p:nvPr/>
        </p:nvSpPr>
        <p:spPr>
          <a:xfrm>
            <a:off x="6233008" y="1691640"/>
            <a:ext cx="550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T-learner vs heuristic-uplift.  </a:t>
            </a:r>
            <a:pPr indent="0" marL="0">
              <a:buNone/>
            </a:pPr>
            <a:r>
              <a:rPr lang="en-US" sz="112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ablation gives a heuristic uplift rule ~66.3% vs the shipped 63.5% on the primary batch — both at 0 violations. Shipped as a design choice, documented as an open call.</a:t>
            </a:r>
            <a:endParaRPr lang="en-US" sz="112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98064"/>
            <a:ext cx="550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model is modest.  </a:t>
            </a:r>
            <a:pPr indent="0" marL="0">
              <a:buNone/>
            </a:pPr>
            <a:r>
              <a:rPr lang="en-US" sz="112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~2pp over a fixed ladder. The value is the orchestration and the compliance layer, and I say so.</a:t>
            </a:r>
            <a:endParaRPr lang="en-US" sz="1120" dirty="0"/>
          </a:p>
        </p:txBody>
      </p:sp>
      <p:sp>
        <p:nvSpPr>
          <p:cNvPr id="7" name="Text 5"/>
          <p:cNvSpPr txBox="1"/>
          <p:nvPr/>
        </p:nvSpPr>
        <p:spPr>
          <a:xfrm>
            <a:off x="6233008" y="2798064"/>
            <a:ext cx="550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6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needs.  </a:t>
            </a:r>
            <a:pPr indent="0" marL="0">
              <a:buNone/>
            </a:pPr>
            <a:r>
              <a:rPr lang="en-US" sz="112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issuer status feeds, a payday prior, and a real gateway.</a:t>
            </a:r>
            <a:endParaRPr lang="en-US" sz="1120" dirty="0"/>
          </a:p>
        </p:txBody>
      </p:sp>
      <p:pic>
        <p:nvPicPr>
          <p:cNvPr id="8" name="Image 0" descr="/home/claude/work/crops/lim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69080"/>
            <a:ext cx="11277295" cy="15694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AGAINST THE STRONGEST PUBLIC ENTRY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axis the rubric names, ahead.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60624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GENERIC CARD-RETRY AGENT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C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MANDATEMEND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91C"/>
                          </a:solidFill>
                        </a:rPr>
                        <a:t>domain</a:t>
                      </a:r>
                      <a:endParaRPr lang="en-US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</a:rPr>
                        <a:t>Generic card retry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C"/>
                          </a:solidFill>
                        </a:rPr>
                        <a:t>UPI AutoPay / e-mandate + NPCI 1+3 cap, 24h notice, AFA ceiling, quiet hours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91C"/>
                          </a:solidFill>
                        </a:rPr>
                        <a:t>decisioning</a:t>
                      </a:r>
                      <a:endParaRPr lang="en-US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</a:rPr>
                        <a:t>Threshold rules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C"/>
                          </a:solidFill>
                        </a:rPr>
                        <a:t>Survival hazard for timing + causal-uplift T-learner for intervention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91C"/>
                          </a:solidFill>
                        </a:rPr>
                        <a:t>evidence</a:t>
                      </a:r>
                      <a:endParaRPr lang="en-US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</a:rPr>
                        <a:t>Single-transaction console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C"/>
                          </a:solidFill>
                        </a:rPr>
                        <a:t>Frozen 300-mandate batch · money recovered · 3 baselines · bootstrap CIs · 1000-mandate cross-check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91C"/>
                          </a:solidFill>
                        </a:rPr>
                        <a:t>compliance</a:t>
                      </a:r>
                      <a:endParaRPr lang="en-US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</a:rPr>
                        <a:t>Asserted in the engine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C"/>
                          </a:solidFill>
                        </a:rPr>
                        <a:t>Independent invariants.py checker + Hypothesis property tests + redteam battery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91C"/>
                          </a:solidFill>
                        </a:rPr>
                        <a:t>reproducibility</a:t>
                      </a:r>
                      <a:endParaRPr lang="en-US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</a:rPr>
                        <a:t>“Runs locally”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C"/>
                          </a:solidFill>
                        </a:rPr>
                        <a:t>Byte-reproducible · deterministic generator · CI re-verifies frozen SHAs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91C"/>
                          </a:solidFill>
                        </a:rPr>
                        <a:t>real rail</a:t>
                      </a:r>
                      <a:endParaRPr lang="en-US" sz="12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1C"/>
                          </a:solidFill>
                        </a:rPr>
                        <a:t>One real Razorpay test-mode round-trip through executor + ledger</a:t>
                      </a:r>
                      <a:endParaRPr lang="en-US" sz="1150" dirty="0"/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87568"/>
            <a:ext cx="11277295" cy="530352"/>
          </a:xfrm>
          <a:prstGeom prst="roundRect">
            <a:avLst>
              <a:gd name="adj" fmla="val 15517"/>
            </a:avLst>
          </a:prstGeom>
          <a:solidFill>
            <a:srgbClr val="16191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5687568"/>
            <a:ext cx="1076523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 on every axis the rubric names </a:t>
            </a:r>
            <a:pPr indent="0" marL="0">
              <a:buNone/>
            </a:pPr>
            <a:r>
              <a:rPr lang="en-US" sz="1350" dirty="0">
                <a:solidFill>
                  <a:srgbClr val="9A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including the one no other entry has: a real payment rail.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REPRODUCE IT IN 90 SECONDS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61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commands. Then the demo.</a:t>
            </a:r>
            <a:endParaRPr lang="en-US" sz="2800" dirty="0"/>
          </a:p>
        </p:txBody>
      </p:sp>
      <p:pic>
        <p:nvPicPr>
          <p:cNvPr id="4" name="Image 0" descr="/home/claude/work/crops/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77295" cy="15830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03256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VIDEO, SCREEN-RECORD — DON'T USE SLIDES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95864"/>
            <a:ext cx="545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mandatemend score live — let the number land.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failure-drill going 7/7.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click into one mandate's rule trace.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plink_ in real test mode.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scroll CHANGELOG.md for “what broke”.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3503256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HYGIENE BEFORE YOU SUBMIT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795864"/>
            <a:ext cx="545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repo description + topics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demo commit v1.0-submission and say the tag on camera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repo on your GitHub profile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“For reviewers” block at the very top of the README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A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MANDATEMEND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0789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open, UPI-native, compliance-gated recovery agent —</a:t>
            </a:r>
            <a:endParaRPr lang="en-US" sz="3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measured, </a:t>
            </a:r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29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63.51% recovered</a:t>
            </a:r>
            <a:pPr indent="0" marL="0">
              <a:buNone/>
            </a:pPr>
            <a:r>
              <a:rPr lang="en-US" sz="1450" dirty="0">
                <a:solidFill>
                  <a:srgbClr val="9AA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+16.33pp   ·   0 violations   ·   112/112 tests   ·   CI green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587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github.com/Khushhalbansal/mandatemend    ·    Track 03  ·  Angle 3A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457200" cy="0"/>
          </a:xfrm>
          <a:prstGeom prst="line">
            <a:avLst/>
          </a:prstGeom>
          <a:noFill/>
          <a:ln w="25400">
            <a:solidFill>
              <a:srgbClr val="6FCF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5029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623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UPI-native, compliance-gated — and the number reproduces on your machine.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MandateMend — Razorpay AI Buildathon 2026</dc:title>
  <dc:subject>PptxGenJS Presentation</dc:subject>
  <dc:creator>MandateMend</dc:creator>
  <cp:lastModifiedBy>MandateMend</cp:lastModifiedBy>
  <cp:revision>1</cp:revision>
  <dcterms:created xsi:type="dcterms:W3CDTF">2026-09-05T18:21:22Z</dcterms:created>
  <dcterms:modified xsi:type="dcterms:W3CDTF">2026-09-05T18:21:22Z</dcterms:modified>
</cp:coreProperties>
</file>